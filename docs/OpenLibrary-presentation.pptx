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a7cdd546-9928-498c-867a-dbab5f8887fd.fntdata" /><ns0:Relationship Id="rIdFont18" Type="http://schemas.openxmlformats.org/officeDocument/2006/relationships/font" Target="fonts/22872d0d-57a2-4049-9112-a14ea664b12d.fntdata" /><ns0:Relationship Id="rIdFont19" Type="http://schemas.openxmlformats.org/officeDocument/2006/relationships/font" Target="fonts/536c379f-518c-4cc0-9515-76508f985e2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489108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1071562"/>
            <a:ext cx="3143250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4439" y="3243262"/>
            <a:ext cx="496312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lus Jakarta Sans"/>
              </a:rPr>
              <a:t>OpenLibrary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1281" y="4157662"/>
            <a:ext cx="69294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Comprendre le savoir, dans la langue de son choix.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7612" y="5386387"/>
            <a:ext cx="14192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PRÉSENTATEUR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0937" y="5586412"/>
            <a:ext cx="1583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Solution 4Tech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4962" y="5386387"/>
            <a:ext cx="1512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ÉTABLISSEMENT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5937" y="5586412"/>
            <a:ext cx="1133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DEFITECH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0950" y="5386387"/>
            <a:ext cx="666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1837" y="5586412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034480"/>
            <a:ext cx="5181600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034480"/>
            <a:ext cx="5181600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291905"/>
            <a:ext cx="5181600" cy="220980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420492"/>
            <a:ext cx="5181600" cy="1952625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1548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15480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67290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801492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LE CONSTAT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Les barrières de l'apprentissage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48880"/>
            <a:ext cx="58007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Documents complexes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48930"/>
            <a:ext cx="5524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Sciences rédigées en langues difficiles à maîtriser.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48880"/>
            <a:ext cx="5562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Interruptions fréquentes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48930"/>
            <a:ext cx="5524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Recherches externes brisant le flux de lecture.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06305"/>
            <a:ext cx="58007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Outils déconnectés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606355"/>
            <a:ext cx="45148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Traducteurs séparés de l'environnement académique.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334892"/>
            <a:ext cx="5562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Vocabulaire technique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734942"/>
            <a:ext cx="55245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Terminologie ardue limitant l'assimilation.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034480"/>
            <a:ext cx="5105400" cy="4213919"/>
          </a:xfrm>
          <a:prstGeom prst="roundRect">
            <a:avLst>
              <a:gd name="adj" fmla="val 542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034480"/>
            <a:ext cx="5105400" cy="4213919"/>
          </a:xfrm>
          <a:prstGeom prst="roundRect">
            <a:avLst>
              <a:gd name="adj" fmla="val 5424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3903315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4360515"/>
            <a:ext cx="1428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4817715"/>
            <a:ext cx="1428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390331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436051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4817715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LE PARADIGME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Et si la langue n'était plus un obstacle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359" y="3250852"/>
            <a:ext cx="5450681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64748B"/>
                </a:solidFill>
                <a:latin typeface="Plus Jakarta Sans"/>
              </a:rPr>
              <a:t>Lecture Classique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1959" y="3250852"/>
            <a:ext cx="5450681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284C7"/>
                </a:solidFill>
                <a:latin typeface="Plus Jakarta Sans"/>
              </a:rPr>
              <a:t>OpenLibrary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3525" y="3889027"/>
            <a:ext cx="48958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Navigation vers outils externes.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525" y="4346227"/>
            <a:ext cx="48958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Perte du contexte visuel.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3525" y="4803427"/>
            <a:ext cx="48958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Traduction totale lente.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4700" y="3889027"/>
            <a:ext cx="4867275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Environnement de lecture intégré.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4346227"/>
            <a:ext cx="4867275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Traduction fluide et ciblée.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4803427"/>
            <a:ext cx="4867275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Accompagnement par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034480"/>
            <a:ext cx="2495550" cy="4213919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2034480"/>
            <a:ext cx="2495550" cy="4213919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034480"/>
            <a:ext cx="2495550" cy="4213919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2034480"/>
            <a:ext cx="2495550" cy="4213919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9847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341754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341754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317527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FONCTIONNALITÉS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L'écosystème d'apprentissage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93777"/>
            <a:ext cx="208026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Bibliothèque Centrale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384327"/>
            <a:ext cx="1981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Moteur de recherche puissant avec filtres spécialisés.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0950" y="3912840"/>
            <a:ext cx="213776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Lecteur PDF Natif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950" y="4265265"/>
            <a:ext cx="1981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Visionnage intégré préservant la mise en page originelle.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912840"/>
            <a:ext cx="213776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Traduction Ciblée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265265"/>
            <a:ext cx="1981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Activée uniquement à la demande sur les passages requis.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812827"/>
            <a:ext cx="186273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Résumés par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65252"/>
            <a:ext cx="1981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Synthèse des chapitres pour accélérer l'apprentissage.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0" y="2491680"/>
            <a:ext cx="9525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Une lecture. Plusieurs langues.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09700" y="34508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34508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51501" y="34508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72402" y="34508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6825" y="345087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411" y="4289077"/>
            <a:ext cx="14201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Rechercher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60340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Trouver le document dans la bibliothèque.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725" y="345087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0342" y="4289077"/>
            <a:ext cx="93011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Ouvrir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4775" y="460340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Lancer le lecteur PDF original.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8626" y="345087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204" y="4289077"/>
            <a:ext cx="15501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Sélectionner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5676" y="460340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Choisir la langue de destination (ex: Français).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9527" y="345087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5854" y="4289077"/>
            <a:ext cx="156269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Comprendre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6577" y="460340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Traduction instantanée affichée dans le lecteur.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98427"/>
            <a:ext cx="3352800" cy="2486025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5780" y="2836277"/>
            <a:ext cx="3520439" cy="2610326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98427"/>
            <a:ext cx="3352800" cy="2486025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898427"/>
            <a:ext cx="3352800" cy="57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35780" y="2836277"/>
            <a:ext cx="3520439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898427"/>
            <a:ext cx="33528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31890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84315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836765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30" y="3921650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30" y="4291697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30" y="4661743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931890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284315"/>
            <a:ext cx="11430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836765"/>
            <a:ext cx="114300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UTILISATEURS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Trois profils, une plateforme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36577"/>
            <a:ext cx="34004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Visiteur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5830" y="3296334"/>
            <a:ext cx="3570445" cy="3500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Étudiant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336577"/>
            <a:ext cx="34004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Administrateur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98552"/>
            <a:ext cx="3009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Découverte du catalogue.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0977"/>
            <a:ext cx="2457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Consultation des aperçus publics.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3427"/>
            <a:ext cx="3009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Création de compte.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0145" y="3886408"/>
            <a:ext cx="3166109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Lecture et traduction in-app.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0145" y="4256454"/>
            <a:ext cx="3166109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Génération de résumés 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0145" y="4626500"/>
            <a:ext cx="2581274" cy="420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Gestion des favoris et historique.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98552"/>
            <a:ext cx="3009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Validation des licences.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50977"/>
            <a:ext cx="2457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Gestion du catalogue et droits.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803427"/>
            <a:ext cx="3009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Supervision du cache et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1323975"/>
            <a:ext cx="5486400" cy="4210050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1781175"/>
            <a:ext cx="4572000" cy="695325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2971800"/>
            <a:ext cx="4572000" cy="65722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4276725"/>
            <a:ext cx="2209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0" y="4276725"/>
            <a:ext cx="2209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650" y="2647950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2236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0816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9396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05571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474151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542731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1106834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INGÉNIERIE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373534"/>
            <a:ext cx="49006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Système de cache intelligent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607915"/>
            <a:ext cx="466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Une architecture conçue pour minimiser la latence et les coûts d'API, tout en garantissant un accès instantané au savoir.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8862" y="2028825"/>
            <a:ext cx="509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1. Requête de traduction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050" y="3200400"/>
            <a:ext cx="514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2. Vérification du Cache Serveur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0952"/>
            <a:ext cx="3750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Réactivité maximale pour l'étudiant.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36752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Limitation des requêtes externes.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22552"/>
            <a:ext cx="3679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Préservation du PDF original intact.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6512" y="4486275"/>
            <a:ext cx="2238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Trouvé : Restitution directe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8712" y="4486275"/>
            <a:ext cx="2238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Absent : Appel API &amp; Stockage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62287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062287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3062287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050" y="3290887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3290887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2908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1966912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Innover dans le respect des droits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" y="4052887"/>
            <a:ext cx="4000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Sécurité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491037"/>
            <a:ext cx="3810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Accès administratifs contrôlés et conservation sécurisée des clés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0" y="4052887"/>
            <a:ext cx="4000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Légalité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4491037"/>
            <a:ext cx="3810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Vérification rigoureuse des licences et autorisations de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3350" y="4052887"/>
            <a:ext cx="4000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Valeur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4491037"/>
            <a:ext cx="3810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Traduction proposée comme outil d'assistance à la compréhension.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26952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26952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603277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603277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4679602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4679602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526952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526952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360327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3603277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4679602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679602"/>
            <a:ext cx="38100" cy="923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096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76300"/>
            <a:ext cx="11430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De la conception au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850802"/>
            <a:ext cx="533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850802"/>
            <a:ext cx="5810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927127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3927127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5003452"/>
            <a:ext cx="5810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5003452"/>
            <a:ext cx="590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50" y="2755552"/>
            <a:ext cx="466308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Fondations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950" y="3031777"/>
            <a:ext cx="4441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Base de données, authentification et permissions.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2775" y="2755552"/>
            <a:ext cx="473809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Bibliothèque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2775" y="3031777"/>
            <a:ext cx="4512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Catalogue, recherche, filtres et stockage sécurisé.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2100" y="3831877"/>
            <a:ext cx="48256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Cœur d'outil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2100" y="4108102"/>
            <a:ext cx="4595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Lecteur PDF et moteur de traduction à la demande.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300" y="3831877"/>
            <a:ext cx="43005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Outils Académiques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300" y="4108102"/>
            <a:ext cx="4095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Résumés IA, historique et gestion des favoris.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2575" y="4908202"/>
            <a:ext cx="43005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2575" y="5184427"/>
            <a:ext cx="4095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Gestion du cache, des langues et statistiques.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300" y="4908202"/>
            <a:ext cx="503812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Déploiement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2300" y="5184427"/>
            <a:ext cx="4798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Tests de sécurité, accessibilité et mise en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38687" y="4873823"/>
            <a:ext cx="2714625" cy="571500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412676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0296" y="2479476"/>
            <a:ext cx="11251406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Le savoir n'a pas de frontière linguistique.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8156" y="3987998"/>
            <a:ext cx="3595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Merci pour votre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4159" y="5026223"/>
            <a:ext cx="278368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E2E8F0"/>
                </a:solidFill>
                <a:latin typeface="Inter"/>
              </a:rPr>
              <a:t>Questions &amp; Échanges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